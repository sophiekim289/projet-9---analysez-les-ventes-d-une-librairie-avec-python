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71" r:id="rId5"/>
    <p:sldId id="263" r:id="rId6"/>
    <p:sldId id="264" r:id="rId7"/>
    <p:sldId id="265" r:id="rId8"/>
    <p:sldId id="259" r:id="rId9"/>
    <p:sldId id="272" r:id="rId10"/>
    <p:sldId id="276" r:id="rId11"/>
    <p:sldId id="273" r:id="rId12"/>
    <p:sldId id="274" r:id="rId13"/>
    <p:sldId id="275" r:id="rId14"/>
    <p:sldId id="260" r:id="rId15"/>
    <p:sldId id="266" r:id="rId16"/>
    <p:sldId id="267" r:id="rId17"/>
    <p:sldId id="268" r:id="rId18"/>
    <p:sldId id="269" r:id="rId19"/>
    <p:sldId id="270" r:id="rId20"/>
    <p:sldId id="262" r:id="rId21"/>
    <p:sldId id="261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7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EDDA7F-2376-4E4D-BB85-ECA10B5D3787}" type="datetimeFigureOut">
              <a:rPr lang="en-GB" smtClean="0"/>
              <a:t>29/09/2025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0387C-F7E3-491C-887E-AFF675BB2C9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3500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B2AB3C-A750-6193-E5F6-33EE241E5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6DCB8DD-4430-AE86-D70E-772F8A915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4C59CC-D80C-B2DC-617C-8B1C20BF2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AD6AE-7672-4BA3-9571-9E6E380A41A1}" type="datetime1">
              <a:rPr lang="en-GB" smtClean="0"/>
              <a:t>29/09/2025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F08167-88E3-8EC6-5928-8D02BE5F9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F3F885-9F34-E6E5-CDD0-61546FB04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B513D-2B4E-4669-8D2C-6E07F9FED78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4837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1CE7F0-6036-D0EC-B7E7-FA2E58E7E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AC920C-0C09-BDB7-8712-680DEACAE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3395E1-AD26-338E-66CB-503B06D39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5DB9-A18E-4CCB-B717-44BFB2AF49C2}" type="datetime1">
              <a:rPr lang="en-GB" smtClean="0"/>
              <a:t>29/09/2025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3932EC-E846-2CD1-62BE-FE63D7087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28C854-1F36-D66D-4866-AC22B87E6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B513D-2B4E-4669-8D2C-6E07F9FED78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6640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46F690-1090-F2B3-7F1F-FEE5EDE36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9200F4E-1DE4-F1A1-3113-91727229E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9E7D8B-261F-608E-9FFC-8C06E4F05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1D631-6C59-449F-A65B-B96B38098DF9}" type="datetime1">
              <a:rPr lang="en-GB" smtClean="0"/>
              <a:t>29/09/2025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E78E22-1683-5791-58ED-C3419BE7D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38E50C-17F2-42E3-2C11-DA778E0D6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B513D-2B4E-4669-8D2C-6E07F9FED78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8523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14A08A-5C9D-5B50-4A96-EA7CC8B12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FB48D6-DDF6-B5FA-42E0-2BAE9444A5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F4419B8-056F-22F7-DCE0-4DCFFDB6BD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24FA2C1-7412-2E29-3A53-FF630EF66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7924-8433-442F-947F-DB37270FA22A}" type="datetime1">
              <a:rPr lang="en-GB" smtClean="0"/>
              <a:t>29/09/2025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BD21F48-DDC2-F717-4FFB-279B02B0F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90ED9E4-49FD-503C-DA01-A9B75BE85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B513D-2B4E-4669-8D2C-6E07F9FED78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014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93CEF6-ECD4-4CC0-6489-167576AB2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E76AE17-59E3-A6B9-464C-D21A4F1AA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9E38A83-218E-7A5E-2927-8689AD4C4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F7416F0-739A-58A5-2395-2377302FDD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CF990FC-DE59-F6DD-0C87-390D4A8329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B607E67-1A8C-5D45-978F-7547DB02E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48A2A-512E-422B-95EF-799BC5B124BF}" type="datetime1">
              <a:rPr lang="en-GB" smtClean="0"/>
              <a:t>29/09/2025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D4A63DB-6C67-25DC-7150-F9B37AF4B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DA1A540-C0FD-5091-67F0-6A126EBB5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B513D-2B4E-4669-8D2C-6E07F9FED78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7931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A77C31-55F5-91B8-FF23-7BA27321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BD31398-99CD-3C61-D724-CF864ADF8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807A7-6FF8-46DF-9090-1D425DCEBCE6}" type="datetime1">
              <a:rPr lang="en-GB" smtClean="0"/>
              <a:t>29/09/2025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EDF3FA5-2D48-17D8-B35E-B5A4B9C9B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4EB67EA-7297-A776-AECA-74FEB8AFB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B513D-2B4E-4669-8D2C-6E07F9FED78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2588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8186225-C1C3-21F2-706F-26ABA7EDD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80B2-7418-4835-BD60-B2E0B9201F5A}" type="datetime1">
              <a:rPr lang="en-GB" smtClean="0"/>
              <a:t>29/09/2025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4E21540-AC86-EA2A-5C7A-95C178526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961B7A5-BB26-4291-AD3C-DB8D0EAF3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B513D-2B4E-4669-8D2C-6E07F9FED78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3540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8AE268-D1F9-55AE-EF9C-1A3D4B7AC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74D814-5C20-2A75-73A0-127BC982A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7D335F4-488D-6230-91C7-C316BBFD1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48E3E8D-A028-6CC3-8B2E-5835C4F92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F83A5-E6CF-4C70-A38E-0254E05030C4}" type="datetime1">
              <a:rPr lang="en-GB" smtClean="0"/>
              <a:t>29/09/2025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08E0894-EBED-185E-B7CC-7D33A0091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D775DCD-C5D9-79C7-510A-D0510198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B513D-2B4E-4669-8D2C-6E07F9FED78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361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1351D6-F67C-9D19-CF0A-EF068E778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EF179F8-E669-09CA-1B9C-3842F2CDAF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E74D8D4-06EE-F5CE-F29B-3DA45FE3E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8B6EFC0-87AC-2FAF-4FA1-328BA1A16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23EA2-988C-4689-93CF-B38FED5922B7}" type="datetime1">
              <a:rPr lang="en-GB" smtClean="0"/>
              <a:t>29/09/2025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AD663FE-FEEF-6ED4-1101-1448E81DE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9F8D15B-CB63-DDBE-6FD8-3EB04FB05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B513D-2B4E-4669-8D2C-6E07F9FED78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9064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C8467F-1B26-5459-3EF3-8C0014B45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197960D-0E64-F707-FCB2-1A93A13AE5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906B33-863D-BC73-2A3C-059BC2C9B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5F4A4-F30D-4F3A-823F-7625FDF3F017}" type="datetime1">
              <a:rPr lang="en-GB" smtClean="0"/>
              <a:t>29/09/2025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7B3BB8-19F1-D791-2E9B-0F13D9EE7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618BE3-5903-43AB-2AC3-1C05A08C1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B513D-2B4E-4669-8D2C-6E07F9FED78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898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F818D17-9919-A52D-9E49-241DE9060C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69F6931-9C1A-A8ED-8F20-A6CC50E0B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FE25B58-B9A4-6912-0061-1BE624D2A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51E0A-93DF-4A81-9A14-0752EA8A3079}" type="datetime1">
              <a:rPr lang="en-GB" smtClean="0"/>
              <a:t>29/09/2025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37EF69-0AA0-A4EF-B3F7-9BABFEA14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3546865-34B3-EE2C-8DF3-6DF7C125C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B513D-2B4E-4669-8D2C-6E07F9FED78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1319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11CD3D9-1C9F-ADB9-68DA-1277CD296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507EE88-1ED7-16DF-F2EB-23A1E46B9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1AEA4D-CC26-94F3-3629-2869F8C190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20BB3-395A-4984-9023-348B3DCD027E}" type="datetime1">
              <a:rPr lang="en-GB" smtClean="0"/>
              <a:t>29/09/2025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1D5EAF-2E79-5CCC-C38B-5BDBFCA125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4B9F60-6A3C-C85A-492C-0493A92BEA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4B513D-2B4E-4669-8D2C-6E07F9FED78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0750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fr/users/mdbabumia960-12596297/?utm_source=link-attribution&amp;utm_medium=referral&amp;utm_campaign=image&amp;utm_content=4270982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ixabay.com/fr/?utm_source=link-attribution&amp;utm_medium=referral&amp;utm_campaign=image&amp;utm_content=4270982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fr/?utm_source=link-attribution&amp;utm_medium=referral&amp;utm_campaign=image&amp;utm_content=1705788" TargetMode="External"/><Relationship Id="rId2" Type="http://schemas.openxmlformats.org/officeDocument/2006/relationships/hyperlink" Target="https://pixabay.com/fr/users/reaxionlab-2960337/?utm_source=link-attribution&amp;utm_medium=referral&amp;utm_campaign=image&amp;utm_content=1705788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fr/users/parveender-5611058/?utm_source=link-attribution&amp;utm_medium=referral&amp;utm_campaign=image&amp;utm_content=7791403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pixabay.com/fr/?utm_source=link-attribution&amp;utm_medium=referral&amp;utm_campaign=image&amp;utm_content=7791403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7A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904568-DDC8-D609-560C-5CCC698D1C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ANALYSE DES VENTES DE LA LIBRAIRIE EN LIGNE LAPAGE</a:t>
            </a:r>
            <a:br>
              <a:rPr lang="fr-FR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endParaRPr lang="en-GB" b="1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2B0F8B2-3A38-B8C0-B87D-23E586CBEE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algn="r"/>
            <a:r>
              <a:rPr lang="en-GB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Sophie KIM</a:t>
            </a:r>
          </a:p>
          <a:p>
            <a:pPr algn="r"/>
            <a:r>
              <a:rPr lang="en-GB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Data Analyst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2581635-4E4E-C86F-2924-52F076214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B513D-2B4E-4669-8D2C-6E07F9FED780}" type="slidenum">
              <a:rPr lang="en-GB" smtClean="0"/>
              <a:t>1</a:t>
            </a:fld>
            <a:endParaRPr lang="en-GB"/>
          </a:p>
        </p:txBody>
      </p:sp>
      <p:pic>
        <p:nvPicPr>
          <p:cNvPr id="6" name="Image 5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9C0DE92C-A04F-274B-60EA-352CEE92E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3105696"/>
            <a:ext cx="4305300" cy="318188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74CB6CC-1DA5-5A47-5915-6C557822F0DA}"/>
              </a:ext>
            </a:extLst>
          </p:cNvPr>
          <p:cNvSpPr txBox="1"/>
          <p:nvPr/>
        </p:nvSpPr>
        <p:spPr>
          <a:xfrm>
            <a:off x="279400" y="6444476"/>
            <a:ext cx="6413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Crédit Image : Image par </a:t>
            </a:r>
            <a:r>
              <a:rPr lang="fr-FR" sz="1200" u="sng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Md Babu Mia</a:t>
            </a:r>
            <a:r>
              <a:rPr lang="fr-FR" sz="12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 de </a:t>
            </a:r>
            <a:r>
              <a:rPr lang="fr-FR" sz="1200" u="sng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Pixabay</a:t>
            </a:r>
            <a:endParaRPr lang="en-GB" sz="12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920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432E2F-ADC3-5410-8174-A5E6CA80B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dirty="0">
                <a:solidFill>
                  <a:srgbClr val="107AC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Contexte</a:t>
            </a:r>
            <a:endParaRPr lang="en-GB" sz="4000" b="1" dirty="0">
              <a:solidFill>
                <a:srgbClr val="107AC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1724E6-7C9B-5C7F-98C3-AD024789D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Analyse de la librairie en ligne lancée il y a 2 ans</a:t>
            </a:r>
          </a:p>
          <a:p>
            <a:endParaRPr lang="fr-FR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r>
              <a:rPr lang="fr-FR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2 parties: </a:t>
            </a:r>
          </a:p>
          <a:p>
            <a:pPr lvl="1"/>
            <a:r>
              <a:rPr lang="fr-FR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Indicateurs financiers</a:t>
            </a:r>
          </a:p>
          <a:p>
            <a:pPr lvl="1"/>
            <a:r>
              <a:rPr lang="fr-FR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Analyse des clients</a:t>
            </a:r>
            <a:endParaRPr lang="en-GB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8C364EC-D630-3D07-A0D5-7262D2377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B513D-2B4E-4669-8D2C-6E07F9FED78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9814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A26312-B0F7-BE9C-9C95-2AC7DC12E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dirty="0">
                <a:solidFill>
                  <a:srgbClr val="107AC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Méthodologie</a:t>
            </a:r>
            <a:endParaRPr lang="en-GB" sz="4000" b="1" dirty="0">
              <a:solidFill>
                <a:srgbClr val="107AC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B02B3C-943D-B338-68BF-F27E55360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Description des données : </a:t>
            </a:r>
          </a:p>
          <a:p>
            <a:pPr lvl="1"/>
            <a:r>
              <a:rPr lang="fr-FR" dirty="0"/>
              <a:t>Dates des données : 01/03/2021 – 28/02/2023</a:t>
            </a:r>
          </a:p>
          <a:p>
            <a:pPr lvl="1"/>
            <a:r>
              <a:rPr lang="fr-FR" dirty="0"/>
              <a:t>3 tables : </a:t>
            </a:r>
            <a:r>
              <a:rPr lang="fr-FR" dirty="0" err="1"/>
              <a:t>customers</a:t>
            </a:r>
            <a:r>
              <a:rPr lang="fr-FR" dirty="0"/>
              <a:t>, </a:t>
            </a:r>
            <a:r>
              <a:rPr lang="fr-FR" dirty="0" err="1"/>
              <a:t>products</a:t>
            </a:r>
            <a:r>
              <a:rPr lang="fr-FR" dirty="0"/>
              <a:t> et transactions</a:t>
            </a:r>
          </a:p>
          <a:p>
            <a:endParaRPr lang="fr-FR" dirty="0"/>
          </a:p>
          <a:p>
            <a:r>
              <a:rPr lang="fr-FR" dirty="0"/>
              <a:t>Types de tests : </a:t>
            </a:r>
          </a:p>
          <a:p>
            <a:pPr lvl="1"/>
            <a:r>
              <a:rPr lang="fr-FR" dirty="0"/>
              <a:t>Données qualitatives : </a:t>
            </a:r>
            <a:r>
              <a:rPr lang="el-GR" dirty="0"/>
              <a:t>χ²</a:t>
            </a:r>
            <a:endParaRPr lang="fr-FR" dirty="0"/>
          </a:p>
          <a:p>
            <a:pPr lvl="1"/>
            <a:r>
              <a:rPr lang="fr-FR" dirty="0"/>
              <a:t>Données mixtes : test ANOVO et test de </a:t>
            </a:r>
            <a:r>
              <a:rPr lang="fr-FR" dirty="0" err="1"/>
              <a:t>Tukey</a:t>
            </a:r>
            <a:r>
              <a:rPr lang="fr-FR" dirty="0"/>
              <a:t> </a:t>
            </a:r>
          </a:p>
          <a:p>
            <a:endParaRPr lang="fr-FR" dirty="0"/>
          </a:p>
          <a:p>
            <a:r>
              <a:rPr lang="fr-FR" dirty="0"/>
              <a:t>Outils utilisés : </a:t>
            </a:r>
          </a:p>
          <a:p>
            <a:pPr lvl="1"/>
            <a:r>
              <a:rPr lang="fr-FR" dirty="0"/>
              <a:t>Google </a:t>
            </a:r>
            <a:r>
              <a:rPr lang="fr-FR" dirty="0" err="1"/>
              <a:t>Colab</a:t>
            </a:r>
            <a:r>
              <a:rPr lang="fr-FR" dirty="0"/>
              <a:t> - Python</a:t>
            </a:r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2A6F80C-70E5-0EB9-9B34-FA22733ED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B513D-2B4E-4669-8D2C-6E07F9FED78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5244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7A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9039CD3-F608-65C1-6034-45922B5AC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Indicateurs financiers</a:t>
            </a:r>
            <a:endParaRPr lang="en-GB" sz="4000" b="1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E2482F1-B605-D9ED-57B9-96D689336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507" y="6477000"/>
            <a:ext cx="10515600" cy="287564"/>
          </a:xfrm>
        </p:spPr>
        <p:txBody>
          <a:bodyPr>
            <a:norm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Crédit Image : Image par </a:t>
            </a:r>
            <a:r>
              <a:rPr lang="fr-FR" sz="1400" u="sng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Ilderson</a:t>
            </a:r>
            <a:r>
              <a:rPr lang="fr-FR" sz="1400" u="sng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fr-FR" sz="1400" u="sng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Casu</a:t>
            </a:r>
            <a:r>
              <a:rPr lang="fr-FR" sz="14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 de </a:t>
            </a:r>
            <a:r>
              <a:rPr lang="fr-FR" sz="1400" u="sng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Pixabay</a:t>
            </a:r>
            <a:endParaRPr lang="en-GB" sz="14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7" name="Image 6" descr="Une image contenant texte, capture d’écran, affichage, multimédia&#10;&#10;Le contenu généré par l’IA peut être incorrect.">
            <a:extLst>
              <a:ext uri="{FF2B5EF4-FFF2-40B4-BE49-F238E27FC236}">
                <a16:creationId xmlns:a16="http://schemas.microsoft.com/office/drawing/2014/main" id="{73DAF0DB-17F7-6BDC-5E0D-C47A84AD56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0E601E9-20D6-345F-C28E-523E0E0BC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B513D-2B4E-4669-8D2C-6E07F9FED78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6795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68F2B-8319-0DBB-C5FC-8FD1C0E3B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A1AE49-03A5-A4A3-EF61-466141C7D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dirty="0">
                <a:solidFill>
                  <a:srgbClr val="107AC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L’évolution du chiffre affaires journalier</a:t>
            </a:r>
            <a:endParaRPr lang="en-GB" sz="4000" b="1" dirty="0">
              <a:solidFill>
                <a:srgbClr val="107AC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2477C0D-D659-6024-E1C0-8BD8A95FA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174" y="1690688"/>
            <a:ext cx="9729651" cy="4938257"/>
          </a:xfrm>
          <a:prstGeom prst="rect">
            <a:avLst/>
          </a:prstGeom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B80A863-20B8-FF40-BBA6-051009896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B513D-2B4E-4669-8D2C-6E07F9FED78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2147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17506-F772-EAFC-CA27-E7D491897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3465CC-2427-D888-7791-EEBB26463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dirty="0">
                <a:solidFill>
                  <a:srgbClr val="107AC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L’évolution du chiffre affaires mensuel</a:t>
            </a:r>
            <a:endParaRPr lang="en-GB" sz="4000" b="1" dirty="0">
              <a:solidFill>
                <a:srgbClr val="107AC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D09632B6-F2C5-41F3-A82E-795DEA053B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8501" y="1690688"/>
            <a:ext cx="9134997" cy="4653192"/>
          </a:xfrm>
          <a:prstGeom prst="rect">
            <a:avLst/>
          </a:prstGeom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57AE7266-E0AF-EF7F-0CFB-0EC76192E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B513D-2B4E-4669-8D2C-6E07F9FED78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6518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9AAE5-3A96-A3A5-9318-EAE8E0D56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243FF5-0954-5F3E-C962-9A5E77AB5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dirty="0">
                <a:solidFill>
                  <a:srgbClr val="107AC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L’évolution du chiffre d’affaires par catégorie</a:t>
            </a:r>
            <a:endParaRPr lang="en-GB" sz="4000" b="1" dirty="0">
              <a:solidFill>
                <a:srgbClr val="107AC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61045DA2-855D-055C-662F-2B73A3B341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0372" y="1690688"/>
            <a:ext cx="9271255" cy="4631735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64A2016-9C99-E527-250F-471B8766C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B513D-2B4E-4669-8D2C-6E07F9FED78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603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55F0051-D289-BBD4-B682-A697304A8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602" y="1718262"/>
            <a:ext cx="9880795" cy="4774613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93ECC61-B444-D477-9A3C-528242B64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dirty="0">
                <a:solidFill>
                  <a:srgbClr val="107AC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4 clients B to B explosent les chiffres </a:t>
            </a:r>
            <a:endParaRPr lang="en-GB" sz="4000" b="1" dirty="0">
              <a:solidFill>
                <a:srgbClr val="107AC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AE7B29CA-B876-1C9C-0999-ED575D70FC0A}"/>
              </a:ext>
            </a:extLst>
          </p:cNvPr>
          <p:cNvSpPr/>
          <p:nvPr/>
        </p:nvSpPr>
        <p:spPr>
          <a:xfrm>
            <a:off x="1926771" y="2035629"/>
            <a:ext cx="1045029" cy="370114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9B179A1-CC8C-2BDE-F8A9-5F5D3C543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B513D-2B4E-4669-8D2C-6E07F9FED78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7745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C5AF9-C0EA-4820-4BAF-3C877BA8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5DC66B-D467-9042-A0F7-0E9143293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427" y="457335"/>
            <a:ext cx="5924006" cy="1325563"/>
          </a:xfrm>
        </p:spPr>
        <p:txBody>
          <a:bodyPr>
            <a:normAutofit/>
          </a:bodyPr>
          <a:lstStyle/>
          <a:p>
            <a:pPr algn="ctr"/>
            <a:r>
              <a:rPr lang="fr-FR" sz="4000" dirty="0">
                <a:solidFill>
                  <a:srgbClr val="107AC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Nombre de transactions</a:t>
            </a:r>
            <a:endParaRPr lang="en-GB" sz="4000" dirty="0">
              <a:solidFill>
                <a:srgbClr val="107AC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E21A173B-E856-8CC0-1F0A-0505B7002086}"/>
              </a:ext>
            </a:extLst>
          </p:cNvPr>
          <p:cNvSpPr txBox="1">
            <a:spLocks/>
          </p:cNvSpPr>
          <p:nvPr/>
        </p:nvSpPr>
        <p:spPr>
          <a:xfrm>
            <a:off x="4082143" y="1501673"/>
            <a:ext cx="1036320" cy="7281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>
                <a:solidFill>
                  <a:srgbClr val="107AC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Total</a:t>
            </a:r>
            <a:endParaRPr lang="en-GB" sz="2800" dirty="0">
              <a:solidFill>
                <a:srgbClr val="107AC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090DA0E3-2C49-EFD6-1666-D55AC45C3A90}"/>
              </a:ext>
            </a:extLst>
          </p:cNvPr>
          <p:cNvSpPr txBox="1">
            <a:spLocks/>
          </p:cNvSpPr>
          <p:nvPr/>
        </p:nvSpPr>
        <p:spPr>
          <a:xfrm>
            <a:off x="2873827" y="3525746"/>
            <a:ext cx="61830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4000" dirty="0">
                <a:solidFill>
                  <a:srgbClr val="107AC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Nombre de produits vendus </a:t>
            </a:r>
            <a:endParaRPr lang="en-GB" sz="4000" dirty="0">
              <a:solidFill>
                <a:srgbClr val="107AC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1658F5BD-76CA-647D-80E1-9394144442F2}"/>
              </a:ext>
            </a:extLst>
          </p:cNvPr>
          <p:cNvSpPr txBox="1">
            <a:spLocks/>
          </p:cNvSpPr>
          <p:nvPr/>
        </p:nvSpPr>
        <p:spPr>
          <a:xfrm>
            <a:off x="3644538" y="4851309"/>
            <a:ext cx="1036320" cy="7281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>
                <a:solidFill>
                  <a:srgbClr val="107AC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Total</a:t>
            </a:r>
            <a:endParaRPr lang="en-GB" sz="2800" dirty="0">
              <a:solidFill>
                <a:srgbClr val="107AC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0E47B617-0910-7086-C2EE-C29D4951A108}"/>
              </a:ext>
            </a:extLst>
          </p:cNvPr>
          <p:cNvSpPr txBox="1">
            <a:spLocks/>
          </p:cNvSpPr>
          <p:nvPr/>
        </p:nvSpPr>
        <p:spPr>
          <a:xfrm>
            <a:off x="6184172" y="1501673"/>
            <a:ext cx="1525089" cy="7281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>
                <a:solidFill>
                  <a:srgbClr val="107AC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Uniques</a:t>
            </a:r>
            <a:endParaRPr lang="en-GB" sz="2800" dirty="0">
              <a:solidFill>
                <a:srgbClr val="107AC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84E7A6DA-227C-CAA8-9D44-6F17DC20D6B3}"/>
              </a:ext>
            </a:extLst>
          </p:cNvPr>
          <p:cNvSpPr txBox="1">
            <a:spLocks/>
          </p:cNvSpPr>
          <p:nvPr/>
        </p:nvSpPr>
        <p:spPr>
          <a:xfrm>
            <a:off x="6748599" y="4851309"/>
            <a:ext cx="1525089" cy="7281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>
                <a:solidFill>
                  <a:srgbClr val="107AC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Uniques</a:t>
            </a:r>
            <a:endParaRPr lang="en-GB" sz="2800" dirty="0">
              <a:solidFill>
                <a:srgbClr val="107AC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C9355D8-40F1-0094-60ED-88043D5F622A}"/>
              </a:ext>
            </a:extLst>
          </p:cNvPr>
          <p:cNvSpPr txBox="1"/>
          <p:nvPr/>
        </p:nvSpPr>
        <p:spPr>
          <a:xfrm>
            <a:off x="3865517" y="2304016"/>
            <a:ext cx="1469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640 734</a:t>
            </a:r>
            <a:endParaRPr lang="en-GB" sz="2800" b="1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BA0D6FE-4259-57EF-973F-73519263AAC1}"/>
              </a:ext>
            </a:extLst>
          </p:cNvPr>
          <p:cNvSpPr txBox="1"/>
          <p:nvPr/>
        </p:nvSpPr>
        <p:spPr>
          <a:xfrm>
            <a:off x="6211930" y="2304016"/>
            <a:ext cx="1469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322 466</a:t>
            </a:r>
            <a:endParaRPr lang="en-GB" sz="2800" b="1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FB8A923-7FE4-1018-2B89-3A1532F17600}"/>
              </a:ext>
            </a:extLst>
          </p:cNvPr>
          <p:cNvSpPr txBox="1"/>
          <p:nvPr/>
        </p:nvSpPr>
        <p:spPr>
          <a:xfrm>
            <a:off x="3347357" y="5621075"/>
            <a:ext cx="1469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640 755</a:t>
            </a:r>
            <a:endParaRPr lang="en-GB" sz="2800" b="1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676425B-BE16-20D4-6BA0-188FDAD5A81F}"/>
              </a:ext>
            </a:extLst>
          </p:cNvPr>
          <p:cNvSpPr txBox="1"/>
          <p:nvPr/>
        </p:nvSpPr>
        <p:spPr>
          <a:xfrm>
            <a:off x="6776357" y="5625121"/>
            <a:ext cx="1469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3 283</a:t>
            </a:r>
            <a:endParaRPr lang="en-GB" sz="2800" b="1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7391A024-6A66-5349-CFDE-6598DC9F7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B513D-2B4E-4669-8D2C-6E07F9FED78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7193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57BA4-A53F-C4F7-2AE0-693E459A4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C8882D-A5BA-2047-4326-E14B0B2ED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825"/>
            <a:ext cx="10515600" cy="1325563"/>
          </a:xfrm>
        </p:spPr>
        <p:txBody>
          <a:bodyPr>
            <a:normAutofit/>
          </a:bodyPr>
          <a:lstStyle/>
          <a:p>
            <a:r>
              <a:rPr lang="fr-FR" sz="4000" b="1" dirty="0">
                <a:solidFill>
                  <a:srgbClr val="107AC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Prix médian des différentes catégories de livres</a:t>
            </a:r>
            <a:endParaRPr lang="en-GB" sz="4000" b="1" dirty="0">
              <a:solidFill>
                <a:srgbClr val="107AC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793771-05A5-D4BF-6FA5-4254953EB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B513D-2B4E-4669-8D2C-6E07F9FED780}" type="slidenum">
              <a:rPr lang="en-GB" smtClean="0"/>
              <a:t>10</a:t>
            </a:fld>
            <a:endParaRPr lang="en-GB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C169B53-791D-D275-6F3E-2BDE4FF4B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864" y="1343018"/>
            <a:ext cx="7242271" cy="536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304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23E70-9DE2-0973-DBDB-E35A9322D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EED833-38ED-D49D-3A5A-088FB7A4D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dirty="0">
                <a:solidFill>
                  <a:srgbClr val="107AC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Top 100 en nombre de ventes </a:t>
            </a:r>
            <a:endParaRPr lang="en-GB" sz="4000" b="1" dirty="0">
              <a:solidFill>
                <a:srgbClr val="107AC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313A96-A53E-07B4-314F-3EA43D60A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453" y="1690688"/>
            <a:ext cx="10191093" cy="4898906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E74DECF-52C8-0899-A24D-FF9686C9C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B513D-2B4E-4669-8D2C-6E07F9FED78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6385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B0A3B-D34D-CCC6-95F2-B4C45F9E7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C6841B-6C8F-C97D-2E33-80178BAD2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dirty="0">
                <a:solidFill>
                  <a:srgbClr val="107AC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81% des produits ayant moins de 10 ventes sont de la catégorie 0</a:t>
            </a:r>
            <a:endParaRPr lang="en-GB" sz="4000" b="1" dirty="0">
              <a:solidFill>
                <a:srgbClr val="107AC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8CF3176-DC1D-3644-926F-3D82F35A9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252" y="1939993"/>
            <a:ext cx="5105496" cy="4552882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054D1BD-ED8C-0258-C980-3D4FA1545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B513D-2B4E-4669-8D2C-6E07F9FED780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9535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7A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habits, personne, dessin humoristique, art&#10;&#10;Le contenu généré par l’IA peut être incorrect.">
            <a:extLst>
              <a:ext uri="{FF2B5EF4-FFF2-40B4-BE49-F238E27FC236}">
                <a16:creationId xmlns:a16="http://schemas.microsoft.com/office/drawing/2014/main" id="{48BB1F6B-4DE7-C313-7ADB-DE7F146BD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63009"/>
            <a:ext cx="12192000" cy="7598229"/>
          </a:xfrm>
          <a:prstGeom prst="rect">
            <a:avLst/>
          </a:prstGeom>
        </p:spPr>
      </p:pic>
      <p:sp>
        <p:nvSpPr>
          <p:cNvPr id="4" name="Titre 3">
            <a:extLst>
              <a:ext uri="{FF2B5EF4-FFF2-40B4-BE49-F238E27FC236}">
                <a16:creationId xmlns:a16="http://schemas.microsoft.com/office/drawing/2014/main" id="{9CBFEF87-50AD-728F-2941-DA581B27F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79400"/>
            <a:ext cx="10515600" cy="1044575"/>
          </a:xfrm>
        </p:spPr>
        <p:txBody>
          <a:bodyPr>
            <a:normAutofit/>
          </a:bodyPr>
          <a:lstStyle/>
          <a:p>
            <a:r>
              <a:rPr lang="fr-FR" sz="40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Analyse des clients</a:t>
            </a:r>
            <a:endParaRPr lang="en-GB" sz="4000" b="1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47DC1F-FFDF-264F-6AD8-91D61444F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8707" y="6357257"/>
            <a:ext cx="10515600" cy="374650"/>
          </a:xfrm>
        </p:spPr>
        <p:txBody>
          <a:bodyPr>
            <a:norm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Crédit Image : Image par </a:t>
            </a:r>
            <a:r>
              <a:rPr lang="fr-FR" sz="1400" u="sng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Parveender</a:t>
            </a:r>
            <a:r>
              <a:rPr lang="fr-FR" sz="1400" u="sng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fr-FR" sz="1400" u="sng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Lamba</a:t>
            </a:r>
            <a:r>
              <a:rPr lang="fr-FR" sz="14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 de </a:t>
            </a:r>
            <a:r>
              <a:rPr lang="fr-FR" sz="1400" u="sng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Pixabay</a:t>
            </a:r>
            <a:endParaRPr lang="en-GB" sz="14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07F6CBAC-40EC-A949-364D-59F804E4F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B513D-2B4E-4669-8D2C-6E07F9FED780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027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E86418-BFE1-C3B7-40B7-97709C008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dirty="0">
                <a:solidFill>
                  <a:srgbClr val="107AC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Le genre influe sur la catégorie de livres achetés </a:t>
            </a:r>
            <a:endParaRPr lang="en-GB" sz="4000" b="1" dirty="0">
              <a:solidFill>
                <a:srgbClr val="107AC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6D34511-A62A-C6E0-F541-5EFE316E2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B513D-2B4E-4669-8D2C-6E07F9FED780}" type="slidenum">
              <a:rPr lang="en-GB" smtClean="0"/>
              <a:t>14</a:t>
            </a:fld>
            <a:endParaRPr lang="en-GB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6C0BA32-5BAF-24F1-C095-48A83C694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004" y="1690688"/>
            <a:ext cx="7745788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541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98FBD-9A0F-9DA3-D814-1A4393A5C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4FFE6D61-5ADF-BBE4-17A9-4E021687D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668" y="1649185"/>
            <a:ext cx="7299463" cy="468820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AECBE2D-A12C-5B6D-034F-3E67FE0CC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dirty="0">
                <a:solidFill>
                  <a:srgbClr val="107AC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Les 35-44 ans sont les plus dépensiers</a:t>
            </a:r>
            <a:endParaRPr lang="en-GB" sz="4000" b="1" dirty="0">
              <a:solidFill>
                <a:srgbClr val="107AC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9DF83BC-1E31-DD67-814D-4A0E03BBE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B513D-2B4E-4669-8D2C-6E07F9FED780}" type="slidenum">
              <a:rPr lang="en-GB" smtClean="0"/>
              <a:t>15</a:t>
            </a:fld>
            <a:endParaRPr lang="en-GB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14D40549-6451-F773-EF45-3D2E639C1493}"/>
              </a:ext>
            </a:extLst>
          </p:cNvPr>
          <p:cNvCxnSpPr/>
          <p:nvPr/>
        </p:nvCxnSpPr>
        <p:spPr>
          <a:xfrm>
            <a:off x="3111500" y="4584700"/>
            <a:ext cx="50673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F4CB21B3-ACAA-D88E-BB24-A196DF28954F}"/>
              </a:ext>
            </a:extLst>
          </p:cNvPr>
          <p:cNvCxnSpPr/>
          <p:nvPr/>
        </p:nvCxnSpPr>
        <p:spPr>
          <a:xfrm>
            <a:off x="8712200" y="4749800"/>
            <a:ext cx="0" cy="10414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8664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3972E-54AC-2100-D8B9-BD5AFFF96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FAC112-8E47-A2DF-F42B-BD6DDFE4B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dirty="0">
                <a:solidFill>
                  <a:srgbClr val="107AC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Les 35-44 ans achètent plus fréquemment</a:t>
            </a:r>
            <a:endParaRPr lang="en-GB" sz="4000" b="1" dirty="0">
              <a:solidFill>
                <a:srgbClr val="107AC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49B310B-6817-CDBD-2545-8C9E314A5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B513D-2B4E-4669-8D2C-6E07F9FED780}" type="slidenum">
              <a:rPr lang="en-GB" smtClean="0"/>
              <a:t>16</a:t>
            </a:fld>
            <a:endParaRPr lang="en-GB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76EB6192-DF63-4D02-F9B6-897CCEB9B5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6650" y="1360278"/>
            <a:ext cx="8758699" cy="513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454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E72D5-CB79-CAA0-3799-7AFF53F1D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38EC90-F7B1-3706-24E3-9AB941AE0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dirty="0">
                <a:solidFill>
                  <a:srgbClr val="107AC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Mais les 35-44 ans ont un panier moyen faible</a:t>
            </a:r>
            <a:endParaRPr lang="en-GB" sz="4000" b="1" dirty="0">
              <a:solidFill>
                <a:srgbClr val="107AC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B64B75D-FB0A-E2EA-B632-BF92D0800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B513D-2B4E-4669-8D2C-6E07F9FED780}" type="slidenum">
              <a:rPr lang="en-GB" smtClean="0"/>
              <a:t>17</a:t>
            </a:fld>
            <a:endParaRPr lang="en-GB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AACD070-34F3-37A9-4CC9-DC97F339F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482" y="1427068"/>
            <a:ext cx="8939036" cy="511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78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C0B46-410F-3FBD-0165-BB3CDEF7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21ADDE62-0523-1B91-6E2A-A9F382004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404" y="1955705"/>
            <a:ext cx="9827857" cy="476577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153E888-9EB2-146A-B0AB-E2FA58058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dirty="0">
                <a:solidFill>
                  <a:srgbClr val="107AC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L’âge influence la catégorie de livres achetés</a:t>
            </a:r>
            <a:endParaRPr lang="en-GB" sz="4000" b="1" dirty="0">
              <a:solidFill>
                <a:srgbClr val="107AC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E82A70D7-9FC8-6ACE-5EA8-E176A2AE1961}"/>
              </a:ext>
            </a:extLst>
          </p:cNvPr>
          <p:cNvSpPr/>
          <p:nvPr/>
        </p:nvSpPr>
        <p:spPr>
          <a:xfrm>
            <a:off x="3000829" y="2286000"/>
            <a:ext cx="1709057" cy="27559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F286D9C-260C-7A42-19AE-2D827F09F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B513D-2B4E-4669-8D2C-6E07F9FED780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9073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A12EF-DEBF-60AF-6D0F-C5FAE2CCF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56BDB1-436C-EDB9-9BDA-98DDA6480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dirty="0">
                <a:solidFill>
                  <a:srgbClr val="107AC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Courbe de Lorenz des montants des achats par catégorie par client</a:t>
            </a:r>
            <a:endParaRPr lang="en-GB" sz="4000" b="1" dirty="0">
              <a:solidFill>
                <a:srgbClr val="107AC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3395AD0E-B43E-17C4-5D2E-260AAB6129F6}"/>
              </a:ext>
            </a:extLst>
          </p:cNvPr>
          <p:cNvCxnSpPr/>
          <p:nvPr/>
        </p:nvCxnSpPr>
        <p:spPr>
          <a:xfrm>
            <a:off x="5965371" y="4082143"/>
            <a:ext cx="489858" cy="598714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E69EF92D-879D-69C4-FB15-F4330B3696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0606" y="1699615"/>
            <a:ext cx="8517428" cy="4940108"/>
          </a:xfrm>
          <a:prstGeom prst="rect">
            <a:avLst/>
          </a:prstGeom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605B1ED-ED7C-94BE-74AB-F1F5674AC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B513D-2B4E-4669-8D2C-6E07F9FED780}" type="slidenum">
              <a:rPr lang="en-GB" smtClean="0"/>
              <a:t>19</a:t>
            </a:fld>
            <a:endParaRPr lang="en-GB"/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F3B482D1-CAD2-C4F7-AE20-F1A9E2802D48}"/>
              </a:ext>
            </a:extLst>
          </p:cNvPr>
          <p:cNvCxnSpPr/>
          <p:nvPr/>
        </p:nvCxnSpPr>
        <p:spPr>
          <a:xfrm>
            <a:off x="6680200" y="4069443"/>
            <a:ext cx="495300" cy="693057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7875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B884D9-1857-08C6-0907-96C9E403E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dirty="0">
                <a:solidFill>
                  <a:srgbClr val="107AC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Recommandations</a:t>
            </a:r>
            <a:endParaRPr lang="en-GB" sz="4000" b="1" dirty="0">
              <a:solidFill>
                <a:srgbClr val="107AC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EC5B74-D75A-B36C-BEC8-FAE703214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Actions ciblées à mettre en place selon les insights présentés</a:t>
            </a:r>
          </a:p>
          <a:p>
            <a:endParaRPr lang="fr-FR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r>
              <a:rPr lang="fr-FR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Pour aller plus loin, faire d’autres analyses: </a:t>
            </a:r>
          </a:p>
          <a:p>
            <a:pPr lvl="1"/>
            <a:r>
              <a:rPr lang="fr-FR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Analyses des clients B to B</a:t>
            </a:r>
          </a:p>
          <a:p>
            <a:pPr lvl="1"/>
            <a:r>
              <a:rPr lang="fr-FR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Analyses plus poussées sur le genre et les comportements d’achat</a:t>
            </a:r>
            <a:endParaRPr lang="en-GB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CC2EFEB-8C5F-4F99-B22A-03C0EF18E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B513D-2B4E-4669-8D2C-6E07F9FED780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9264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FE7F41-EC3B-4320-7A40-8B81C9490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dirty="0">
                <a:solidFill>
                  <a:srgbClr val="107AC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Limites</a:t>
            </a:r>
            <a:endParaRPr lang="en-GB" sz="4000" b="1" dirty="0">
              <a:solidFill>
                <a:srgbClr val="107AC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85C122-2129-7108-8742-C5065A14E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Les données disponibles et exploitables</a:t>
            </a:r>
          </a:p>
          <a:p>
            <a:endParaRPr lang="fr-FR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r>
              <a:rPr lang="fr-FR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Les éléments de contexte non connus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D20D57A-3C3F-D869-C384-EC1ED8D61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B513D-2B4E-4669-8D2C-6E07F9FED780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89757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7A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D73F80B-7A8B-ACDB-3CE2-C9C4505735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Sophie KIM</a:t>
            </a:r>
            <a:endParaRPr lang="en-GB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17B6F9-5CB4-50EA-EAC0-A5386AC179D1}"/>
              </a:ext>
            </a:extLst>
          </p:cNvPr>
          <p:cNvSpPr/>
          <p:nvPr/>
        </p:nvSpPr>
        <p:spPr>
          <a:xfrm>
            <a:off x="3464466" y="2082800"/>
            <a:ext cx="5263067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12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light" panose="020B0402040204020203" pitchFamily="34" charset="0"/>
                <a:cs typeface="Segoe UI Semilight" panose="020B0402040204020203" pitchFamily="34" charset="0"/>
              </a:rPr>
              <a:t>MERCI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9CC2794-6DEE-99CF-739C-66971CA2C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B513D-2B4E-4669-8D2C-6E07F9FED780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399535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1037</TotalTime>
  <Words>304</Words>
  <Application>Microsoft Office PowerPoint</Application>
  <PresentationFormat>Grand écran</PresentationFormat>
  <Paragraphs>83</Paragraphs>
  <Slides>22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Segoe UI Semilight</vt:lpstr>
      <vt:lpstr>Thème Office</vt:lpstr>
      <vt:lpstr>ANALYSE DES VENTES DE LA LIBRAIRIE EN LIGNE LAPAGE </vt:lpstr>
      <vt:lpstr>Contexte</vt:lpstr>
      <vt:lpstr>Méthodologie</vt:lpstr>
      <vt:lpstr>Indicateurs financiers</vt:lpstr>
      <vt:lpstr>L’évolution du chiffre affaires journalier</vt:lpstr>
      <vt:lpstr>L’évolution du chiffre affaires mensuel</vt:lpstr>
      <vt:lpstr>L’évolution du chiffre d’affaires par catégorie</vt:lpstr>
      <vt:lpstr>4 clients B to B explosent les chiffres </vt:lpstr>
      <vt:lpstr>Nombre de transactions</vt:lpstr>
      <vt:lpstr>Prix médian des différentes catégories de livres</vt:lpstr>
      <vt:lpstr>Top 100 en nombre de ventes </vt:lpstr>
      <vt:lpstr>81% des produits ayant moins de 10 ventes sont de la catégorie 0</vt:lpstr>
      <vt:lpstr>Analyse des clients</vt:lpstr>
      <vt:lpstr>Le genre influe sur la catégorie de livres achetés </vt:lpstr>
      <vt:lpstr>Les 35-44 ans sont les plus dépensiers</vt:lpstr>
      <vt:lpstr>Les 35-44 ans achètent plus fréquemment</vt:lpstr>
      <vt:lpstr>Mais les 35-44 ans ont un panier moyen faible</vt:lpstr>
      <vt:lpstr>L’âge influence la catégorie de livres achetés</vt:lpstr>
      <vt:lpstr>Courbe de Lorenz des montants des achats par catégorie par client</vt:lpstr>
      <vt:lpstr>Recommandations</vt:lpstr>
      <vt:lpstr>Limites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SOPHIE KIM</dc:creator>
  <cp:lastModifiedBy>SOPHIE KIM</cp:lastModifiedBy>
  <cp:revision>27</cp:revision>
  <dcterms:created xsi:type="dcterms:W3CDTF">2025-09-24T22:55:00Z</dcterms:created>
  <dcterms:modified xsi:type="dcterms:W3CDTF">2025-09-29T23:11:40Z</dcterms:modified>
</cp:coreProperties>
</file>